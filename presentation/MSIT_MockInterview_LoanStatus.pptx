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FA7B6F-DD5D-4D74-975E-B2262585B2C9}">
  <a:tblStyle styleId="{70FA7B6F-DD5D-4D74-975E-B2262585B2C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60" y="365760"/>
            <a:ext cx="64008" cy="43891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" y="45720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LOAN STATUS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94360" y="123444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KLASSIFIKATION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94360" y="2194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  |  Erik Gerst  |  LightGBM Champion v1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2606040"/>
            <a:ext cx="45720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0" y="45720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800" y="45720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0" y="548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0.867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0" y="1051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0" y="196596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400800" y="196596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400800" y="20574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0.915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0" y="25603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6400800" y="347472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400800" y="347472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00800" y="35661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0.558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0" y="40690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  |  LightGBM v1  |  Optuna Tuning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PROBLEM &amp; DATENSATZ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AUFGABENSTELLUNG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128016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Binäre Klassifikation: loan_status (0/1)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Ziel: Kreditgenehmigung vorhersagen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Perspektive: Bank → False Positives minimieren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26060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DATENSATZ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297180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563 Zeilen, 13 Features original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508 Zeilen nach 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Features nach 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846320" y="914400"/>
            <a:ext cx="3840480" cy="10972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846320" y="914400"/>
            <a:ext cx="384048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846320" y="10058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71% / 29%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846320" y="1508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KLASSENUNGLEICHGEWICHT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46320" y="2194560"/>
            <a:ext cx="3840480" cy="10972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846320" y="2194560"/>
            <a:ext cx="384048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22860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508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0" y="27889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TRAININGS-SAMPLES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46320" y="3474720"/>
            <a:ext cx="3840480" cy="10972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846320" y="3474720"/>
            <a:ext cx="384048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846320" y="35661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15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46320" y="40690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EDA – WICHTIGSTE ERKENNTNISSE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0080" y="9784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CREDIT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697480" y="97840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Stärkster Prädiktor – Permutation MI: 0.127 | Genehmigungsrate Δ 67%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40080" y="175564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PROPERTY AREA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697480" y="175564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Stärkster kategorischer Prädiktor – Cramér's V: 0.157 | Semiurban 81% vs. Rural 65%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0080" y="253288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AUSREISSER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697480" y="253288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applicant_income Skewness 6.74 → Yeo-Johnson Transformation nötig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0080" y="33101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MCAR BESTÄTIGT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697480" y="331012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Fehlende Werte zufällig verteilt – Imputation statistisch vertretbar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402336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0080" y="40873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KLASSENUNGLGEW.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697480" y="4087368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71.4% / 28.6% → Accuracy als Metrik ungeeignet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PREPROCESSING &amp; FEATURE ENGINEERING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9144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TRANSFORMATIONEN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Yeo-Johnson: applicant_income (6.74 → -0.13)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Yeo-Johnson: coapplicant_income (7.48 → -0.26)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Yeo-Johnson: loan_amount (2.60 → 0.03)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MCAR → Median/Modus Imputation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Label/Ordinal/One-Hot Encoding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30175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FEATURE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has_coapplicant: 1 wenn Co-Einkommen &gt;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is_standard_term: 1 wenn Laufzeit = 360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total_income: Gesamteinkommen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REIHENFOLGE KRITISCH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846320" y="1325880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983480" y="13898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 NaN in loan_status entfernen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846320" y="1856232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983480" y="19202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 Feature Engineering (vor Imputation)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846320" y="2386584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983480" y="24505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 Imputation (Median/Modus)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46320" y="2916936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983480" y="298094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 total_income (nach Imputation)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846320" y="3447288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983480" y="351129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 Encoding → Transformation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846320" y="3977640"/>
            <a:ext cx="3840480" cy="43891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983480" y="404164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 Train/Test Split 80/20 stratified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MODELLVERGLEICH – 6 MODELLE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7"/>
          <p:cNvGraphicFramePr/>
          <p:nvPr/>
        </p:nvGraphicFramePr>
        <p:xfrm>
          <a:off x="45720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{70FA7B6F-DD5D-4D74-975E-B2262585B2C9}</a:tableStyleId>
              </a:tblPr>
              <a:tblGrid>
                <a:gridCol w="2286000"/>
                <a:gridCol w="1188725"/>
                <a:gridCol w="1188725"/>
                <a:gridCol w="1188725"/>
                <a:gridCol w="1188725"/>
                <a:gridCol w="1188725"/>
              </a:tblGrid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Recall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PR-AUC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A623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A62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5A6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 ★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C3A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Regression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0.854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0.959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0.882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49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0.840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0.863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3333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★ Champion  |  Primärmetrik: Precision (Bankperspektive: FP minimieren)  |  class_weight=balanced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CHAMPION – LGBM FULL v1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METRIKEN (TEST-SET)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1325880"/>
            <a:ext cx="3840480" cy="5303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594360" y="13716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286000" y="13533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0.867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94360" y="161848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Bankperspektive – Primärmetrik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1947672"/>
            <a:ext cx="3840480" cy="5303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594360" y="199339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286000" y="1975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0.890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94360" y="224028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89% aller Genehmigbaren erkannt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2569464"/>
            <a:ext cx="3840480" cy="5303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594360" y="261518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286000" y="259689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0.878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94360" y="286207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Harmonisches Mittel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3191256"/>
            <a:ext cx="3840480" cy="5303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594360" y="323697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286000" y="3218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0.915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94360" y="348386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Robust bei Klassenungleichgewicht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3813048"/>
            <a:ext cx="3840480" cy="530352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94360" y="385876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MCC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286000" y="3840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0.558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94360" y="410565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Ehrlichste Einzelmetrik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CONFUSION MATRIX (Threshold 0.50)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1325880"/>
            <a:ext cx="393192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Bootstrap 95% KI: Precision [0.781 – 0.939]  |  PR-AUC [0.845 – 0.967]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OVERFITTING – ANALYSE &amp; GEGENMASSNAHME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3A1A1A"/>
          </a:solidFill>
          <a:ln cap="flat" cmpd="sng" w="12700">
            <a:solidFill>
              <a:srgbClr val="E44C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40080" y="9875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4C6C"/>
              </a:buClr>
              <a:buSzPts val="1000"/>
              <a:buFont typeface="Arial Black"/>
              <a:buNone/>
            </a:pPr>
            <a:r>
              <a:rPr b="0" i="0" lang="en-US" sz="1000" u="none" cap="none" strike="noStrike">
                <a:solidFill>
                  <a:srgbClr val="E44C6C"/>
                </a:solidFill>
                <a:latin typeface="Arial Black"/>
                <a:ea typeface="Arial Black"/>
                <a:cs typeface="Arial Black"/>
                <a:sym typeface="Arial Black"/>
              </a:rPr>
              <a:t>BEFUND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40080" y="1298448"/>
            <a:ext cx="7772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PR-AUC = 1.000  |  Nested CV PR-AUC = 0.869  |  Gap = 0.131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Ursache: LGBM 680 Bäume + max_depth=14 auf 406 Trainingssamples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2240280"/>
            <a:ext cx="8229600" cy="1188720"/>
          </a:xfrm>
          <a:prstGeom prst="rect">
            <a:avLst/>
          </a:prstGeom>
          <a:solidFill>
            <a:srgbClr val="4A5C3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640080" y="23134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 Black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GEGENMASSNAHME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0080" y="2624328"/>
            <a:ext cx="77724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Re-Tuning v2 mit Gap-Penalty: Objective = CV PR-AUC - 0.2 × (Train - CV)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Gap Precision: v1=0.171 → v2=0.137  |  Gap reduziert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640080" y="36393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100"/>
              <a:buFont typeface="Arial Black"/>
              <a:buNone/>
            </a:pPr>
            <a:r>
              <a:rPr b="0" i="0" lang="en-US" sz="11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ENTSCHEIDUNG: v1 bleibt Champion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Nested CV PR-AUC v1 (0.869) &gt; v2 (0.855)  |  Gap-Reduktion bei PR-AUC marginal  |  Fundamentale Grenze: Datenmenge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THEORETISCHE GRENZEN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58368" y="97840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DATENMENGE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834640" y="978408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508 Samples → statistische Instabilität | Bootstrap KI Breite: 0.11–0.35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57200" y="1682496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457200" y="1682496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658368" y="17465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BAYES ERROR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2834640" y="1746504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Geschätzte max. PR-AUC: ~0.93–0.95 | Champion bei 85–90% des Möglichen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2450592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57200" y="2450592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58368" y="251460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FEATURE QUALITÄT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834640" y="251460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credit_history dominiert (SHAP 0.969) | 14 weitere Features schwach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57200" y="3218688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58368" y="328269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OVERFITTING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2834640" y="3282696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Train=1.0, Nested CV=0.869 | Gap durch Datenmenge nicht vollständig behebbar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solidFill>
            <a:srgbClr val="4A5C3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457200" y="3986784"/>
            <a:ext cx="54864" cy="6583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58368" y="40507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Arial Black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LÖSUNG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834640" y="4050792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10× mehr Daten → +3–5% PR-AUC | 5 stärkere Features → +5–10% PR-AUC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STREAMLIT APP – LOAN STATUS CLASSIFIER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 Black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34440"/>
            <a:ext cx="41148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 Black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EINZELANTRAG + SHAP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234440"/>
            <a:ext cx="39319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Interaktiver Threshold Slider (0.41 / 0.50 / 0.90)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SHAP Waterfall Erklärung pro Antrag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Store44 Design – Dunkel, Gold, Dunkelgrau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C1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365760" y="365760"/>
            <a:ext cx="64008" cy="43891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594360" y="4114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FAZIT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94360" y="1005840"/>
            <a:ext cx="4572000" cy="36576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594360" y="114300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Champion: LightGBM Full v1 – Optuna 100 Trials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 0.867 | PR-AUC 0.915 | MCC 0.558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Overfitting entdeckt, analysiert &amp; dokumentiert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85–90% des theoretisch Möglichen erreicht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Limit: Datenmenge (508 Samples)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94360" y="37490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Arial Black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NÄCHSTE SCHRITTE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94360" y="4069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Mehr Daten → +3–5% PR-AUC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Stärkere Features (Kontobewegungen, DTI)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400800" y="45720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6400800" y="45720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6400800" y="5486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0.867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400800" y="1051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400800" y="196596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6400800" y="196596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6400800" y="20574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0.915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400800" y="25603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PR-AUC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400800" y="3474720"/>
            <a:ext cx="2286000" cy="1325880"/>
          </a:xfrm>
          <a:prstGeom prst="rect">
            <a:avLst/>
          </a:prstGeom>
          <a:solidFill>
            <a:srgbClr val="2A2A2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6400800" y="3474720"/>
            <a:ext cx="2286000" cy="457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6400800" y="35661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F5A623"/>
                </a:solidFill>
                <a:latin typeface="Arial Black"/>
                <a:ea typeface="Arial Black"/>
                <a:cs typeface="Arial Black"/>
                <a:sym typeface="Arial Black"/>
              </a:rPr>
              <a:t>0.869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400800" y="40690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NESTED CV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MSIT Mock Interview 2026  |  Erik Gerst  |  LightGBM Champion v1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